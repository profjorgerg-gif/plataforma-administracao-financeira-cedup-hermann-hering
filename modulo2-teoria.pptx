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oval">
            <a:avLst/>
          </a:prstGeom>
          <a:solidFill>
            <a:srgbClr val="16242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291840" cy="3291840"/>
          </a:xfrm>
          <a:prstGeom prst="oval">
            <a:avLst/>
          </a:prstGeom>
          <a:ln w="19050">
            <a:solidFill>
              <a:srgbClr val="C99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CEDUP HERMANN HERING  ·  CURSO TÉCNICO EM ADMINISTRAÇÃO E CONTABILIDADE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7432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Caixa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Elaboração e Análise do Fluxo de Caixa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5166360"/>
            <a:ext cx="548640" cy="0"/>
          </a:xfrm>
          <a:prstGeom prst="line">
            <a:avLst/>
          </a:prstGeom>
          <a:noFill/>
          <a:ln w="25400">
            <a:solidFill>
              <a:srgbClr val="C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03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Esp. Jorge Lima Cardoso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— material de apoio ao módulo 2 da plataforma de estudos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 MÓDULO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 do fluxo de caixa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679192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6791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fluxo de caixa: operacionais, investimento e financiamento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392424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3924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 para análise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4105656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05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0565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financeiros: FCO e FCL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4818888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818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818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cálculo do FCO e do FCL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457200" cy="457200"/>
          </a:xfrm>
          <a:prstGeom prst="oval">
            <a:avLst/>
          </a:prstGeom>
          <a:solidFill>
            <a:srgbClr val="16242F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5532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análise interpretativa dos resultados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Geral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2011680"/>
          </a:xfrm>
          <a:prstGeom prst="rect">
            <a:avLst>
              <a:gd name="adj" fmla="val 3636"/>
            </a:avLst>
          </a:prstGeom>
          <a:solidFill>
            <a:srgbClr val="16242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Compreender, elaborar e analisar o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ferramenta essencial para o controle financeiro de uma empresa.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do fluxo de caixa permite decisões mais seguras e estratégicas ao monitorar entradas e saídas de recursos monetários.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Atividades do Fluxo de Caixa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9000" cy="379476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9572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Operacionais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Envolvem as operações principais do negócio. Ex.: vendas, recebimentos de clientes, pagamentos a fornecedores, salários e despesas operacionais.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29000" cy="379476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239572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de Investimento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38404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Referem-se à aquisição ou venda de ativos fixos. Ex.: compra de equipamentos, imóveis, aplicações financeiras.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29000" cy="3794760"/>
          </a:xfrm>
          <a:prstGeom prst="rect">
            <a:avLst>
              <a:gd name="adj" fmla="val 2133"/>
            </a:avLst>
          </a:prstGeom>
          <a:solidFill>
            <a:srgbClr val="16242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395728"/>
            <a:ext cx="548640" cy="548640"/>
          </a:xfrm>
          <a:prstGeom prst="oval">
            <a:avLst/>
          </a:prstGeom>
          <a:solidFill>
            <a:srgbClr val="0C1922"/>
          </a:solidFill>
          <a:ln w="19050">
            <a:solidFill>
              <a:srgbClr val="C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3957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de Financiamento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21040" y="384048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recursos ou devolução de capital. Ex.: empréstimos, financiamentos, aportes de capital, pagamentos de dívidas e distribuição de lucros.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Conceitos-Chave para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1737360"/>
          </a:xfrm>
          <a:prstGeom prst="rect">
            <a:avLst>
              <a:gd name="adj" fmla="val 3684"/>
            </a:avLst>
          </a:prstGeom>
          <a:solidFill>
            <a:srgbClr val="16242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1671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 Caixa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243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disponível ao final de um período. Indica a liquidez imediata da empresa.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120640" cy="1737360"/>
          </a:xfrm>
          <a:prstGeom prst="rect">
            <a:avLst>
              <a:gd name="adj" fmla="val 3684"/>
            </a:avLst>
          </a:prstGeom>
          <a:solidFill>
            <a:srgbClr val="16242F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240280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16712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Financeiro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6243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entre o pagamento a fornecedores e o recebimento das vendas. Quanto menor, melhor a saúde financeira.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120640" cy="1737360"/>
          </a:xfrm>
          <a:prstGeom prst="rect">
            <a:avLst>
              <a:gd name="adj" fmla="val 3684"/>
            </a:avLst>
          </a:prstGeom>
          <a:solidFill>
            <a:srgbClr val="16242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160520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0873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de Caixa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54456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velocidade com que a empresa transforma seus ativos em caixa.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5120640" cy="1737360"/>
          </a:xfrm>
          <a:prstGeom prst="rect">
            <a:avLst>
              <a:gd name="adj" fmla="val 3684"/>
            </a:avLst>
          </a:prstGeom>
          <a:solidFill>
            <a:srgbClr val="16242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4160520"/>
            <a:ext cx="128016" cy="12801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08736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Cobertura de Caixa (ICC)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54456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 capacidade de cobrir despesas operacionais com o FCO. ICC = FCO / Despesas Operacionais (acima de 1 é desejável).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FINANCEIROS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FCO e FCL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120640" cy="3611880"/>
          </a:xfrm>
          <a:prstGeom prst="rect">
            <a:avLst>
              <a:gd name="adj" fmla="val 2025"/>
            </a:avLst>
          </a:prstGeom>
          <a:solidFill>
            <a:srgbClr val="16242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999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Operacional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3520440"/>
            <a:ext cx="4480560" cy="685800"/>
          </a:xfrm>
          <a:prstGeom prst="rect">
            <a:avLst>
              <a:gd name="adj" fmla="val 6667"/>
            </a:avLst>
          </a:prstGeom>
          <a:solidFill>
            <a:srgbClr val="1C2B37"/>
          </a:solidFill>
          <a:ln w="12700">
            <a:solidFill>
              <a:srgbClr val="273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5204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 = Recebimentos Totais − Pagamentos Totais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4434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quanto a empresa gera de caixa com suas operações do dia a dia.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120640" cy="3611880"/>
          </a:xfrm>
          <a:prstGeom prst="rect">
            <a:avLst>
              <a:gd name="adj" fmla="val 2025"/>
            </a:avLst>
          </a:prstGeom>
          <a:solidFill>
            <a:srgbClr val="16242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77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4B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FCL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37960" y="2999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Caixa Livre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3520440"/>
            <a:ext cx="4480560" cy="685800"/>
          </a:xfrm>
          <a:prstGeom prst="rect">
            <a:avLst>
              <a:gd name="adj" fmla="val 6667"/>
            </a:avLst>
          </a:prstGeom>
          <a:solidFill>
            <a:srgbClr val="1C2B37"/>
          </a:solidFill>
          <a:ln w="12700">
            <a:solidFill>
              <a:srgbClr val="273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5204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FCL = FCO − Investimentos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37960" y="44348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quanto sobra (ou falta) de caixa depois de realizados os investimentos.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Análise Interpretativa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calcular o FCO e o FCL, a análise deve responder três perguntas: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384048" cy="384048"/>
          </a:xfrm>
          <a:prstGeom prst="oval">
            <a:avLst/>
          </a:prstGeom>
          <a:solidFill>
            <a:srgbClr val="0C1922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46888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saldo de caixa final é positivo ou negativo?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081528"/>
            <a:ext cx="384048" cy="384048"/>
          </a:xfrm>
          <a:prstGeom prst="oval">
            <a:avLst/>
          </a:prstGeom>
          <a:solidFill>
            <a:srgbClr val="0C1922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30358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FCO foi suficiente para cobrir os investimentos (o FCL é positivo)?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648456"/>
            <a:ext cx="384048" cy="384048"/>
          </a:xfrm>
          <a:prstGeom prst="oval">
            <a:avLst/>
          </a:prstGeom>
          <a:solidFill>
            <a:srgbClr val="0C1922"/>
          </a:solidFill>
          <a:ln w="15875">
            <a:solidFill>
              <a:srgbClr val="C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48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60273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medidas podem melhorar o fluxo de caixa?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881360" cy="1691640"/>
          </a:xfrm>
          <a:prstGeom prst="rect">
            <a:avLst>
              <a:gd name="adj" fmla="val 3784"/>
            </a:avLst>
          </a:prstGeom>
          <a:solidFill>
            <a:srgbClr val="16242F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empresa com FCO de R$ 55.000 e FCL de R$ 35.000 está em situação positiva — pode manter controle de gastos e aproveitamento de recursos. Já uma empresa com FCO de R$ 5.000 e FCL de −R$ 25.000 está em situação crítica, precisando combater inadimplência e reduzir despesas fixas.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Administração Financeira · Módulo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029200" cy="5029200"/>
          </a:xfrm>
          <a:prstGeom prst="oval">
            <a:avLst/>
          </a:prstGeom>
          <a:solidFill>
            <a:srgbClr val="16242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B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— Mercado de Capitais 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2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Investimentos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do módulo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Fluxo de caixa: operacional, investimento e financiamento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7274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FCO = Recebimentos Totais − Pagamentos Totais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11149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FCL = FCO − Investimentos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49554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Analisar sempre: saldo final, cobertura dos investimentos e medidas de melhoria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Esp. Jorge Lima Cardoso  ·  CEDUP Hermann Hering  ·  Curso Técnico em Administração e Contabilidade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2026-07-31T23:59:02Z</dcterms:created>
  <dcterms:modified xsi:type="dcterms:W3CDTF">2026-07-31T23:59:02Z</dcterms:modified>
</cp:coreProperties>
</file>